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7" r:id="rId6"/>
    <p:sldId id="258" r:id="rId7"/>
    <p:sldId id="259" r:id="rId8"/>
    <p:sldId id="260" r:id="rId9"/>
    <p:sldId id="261" r:id="rId10"/>
    <p:sldId id="262" r:id="rId11"/>
    <p:sldId id="269" r:id="rId12"/>
    <p:sldId id="268" r:id="rId13"/>
    <p:sldId id="263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0CE"/>
    <a:srgbClr val="F0EB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64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/>
          </p:cNvSpPr>
          <p:nvPr/>
        </p:nvSpPr>
        <p:spPr>
          <a:xfrm>
            <a:off x="457200" y="6144768"/>
            <a:ext cx="11274552" cy="384048"/>
          </a:xfrm>
          <a:prstGeom prst="rect">
            <a:avLst/>
          </a:prstGeom>
          <a:solidFill>
            <a:srgbClr val="1F2BE0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1005840" y="12344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1F2B60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AI 工程营 · 最终项目 · 10 分钟答辩</a:t>
            </a:r>
            <a:endParaRPr sz="1350" b="1">
              <a:solidFill>
                <a:srgbClr val="5560E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005840" y="173736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4650" b="1">
                <a:solidFill>
                  <a:srgbClr val="1F2BE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00" b="1" dirty="0" err="1">
                <a:solidFill>
                  <a:srgbClr val="1F2B60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干豆品种辅助分类</a:t>
            </a:r>
            <a:endParaRPr sz="4650" b="1" dirty="0">
              <a:solidFill>
                <a:srgbClr val="1F2BE0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005840" y="30175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800" b="0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16 项形状测量 → 7 个候选品种：真实数据、三个方法、真实失败案例</a:t>
            </a:r>
            <a:endParaRPr sz="1800" b="0">
              <a:solidFill>
                <a:srgbClr val="18215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1005840" y="4663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00" b="0">
                <a:solidFill>
                  <a:srgbClr val="576574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哈哈哈组 · 刘泽润 / 吴升峰 / 程霖垚 / 韦佳瑜</a:t>
            </a:r>
            <a:endParaRPr sz="1350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00" b="0">
                <a:solidFill>
                  <a:srgbClr val="576574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2026-08-26</a:t>
            </a:r>
            <a:endParaRPr sz="1350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txBody>
          <a:bodyPr wrap="square"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0" y="6762750"/>
            <a:ext cx="12192000" cy="9525"/>
          </a:xfrm>
          <a:prstGeom prst="rect">
            <a:avLst/>
          </a:prstGeom>
          <a:solidFill>
            <a:srgbClr val="1F2BE0"/>
          </a:solidFill>
          <a:ln w="0">
            <a:noFill/>
            <a:prstDash val="solid"/>
          </a:ln>
        </p:spPr>
        <p:txBody>
          <a:bodyPr wrap="square"/>
          <a:p/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47650" y="247650"/>
            <a:ext cx="66675" cy="63627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txBody>
          <a:bodyPr wrap="square"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64592" cy="932688"/>
          </a:xfrm>
          <a:prstGeom prst="rect">
            <a:avLst/>
          </a:prstGeom>
          <a:solidFill>
            <a:srgbClr val="1F2BE0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02920" y="82296"/>
            <a:ext cx="11155680" cy="3057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1F2B60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02 · 数据介绍</a:t>
            </a:r>
            <a:endParaRPr sz="1125" b="1">
              <a:solidFill>
                <a:srgbClr val="5560E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F2BE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00" b="1" dirty="0">
                <a:solidFill>
                  <a:srgbClr val="1F2B60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Dry Bean Dataset</a:t>
            </a:r>
            <a:endParaRPr sz="2700" b="1" dirty="0">
              <a:solidFill>
                <a:srgbClr val="1F2BE0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48640" y="1234440"/>
            <a:ext cx="5486400" cy="22860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777240" y="137160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来源与文件</a:t>
            </a:r>
            <a:endParaRPr sz="1650" b="1">
              <a:solidFill>
                <a:srgbClr val="18215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777240" y="1801368"/>
            <a:ext cx="5029200" cy="160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Kaggle：Dry Bean Dataset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发布者：Murat KOKLU 等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原始来源：muratkoklu.com/datasets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论文 DOI：10.1016/j.compag.2020.105507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本地文件：data/raw/Dry_Bean_Dataset.arff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400800" y="1234440"/>
            <a:ext cx="5212080" cy="22860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629400" y="13716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规模与结构</a:t>
            </a:r>
            <a:endParaRPr sz="1650" b="1">
              <a:solidFill>
                <a:srgbClr val="18215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6629400" y="1801368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13,611 条真实记录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17 列 = 16 个数值特征 + 1 个 Class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7 类：巴尔布尼亚 / 孟买 / 卡利 / 德尔马森 / 霍罗兹 / 塞克尔 / 西拉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无缺失值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48640" y="3703320"/>
            <a:ext cx="5486400" cy="22860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777240" y="384048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特征来自图像处理</a:t>
            </a:r>
            <a:endParaRPr sz="1650" b="1">
              <a:solidFill>
                <a:srgbClr val="18215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777240" y="4270248"/>
            <a:ext cx="5029200" cy="160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Area、Perimeter、MajorAxisLength、MinorAxisLength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roundness、compactness 等 16 项形状测量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数据由特定图像采集与分割流程生成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400800" y="3703320"/>
            <a:ext cx="5212080" cy="22860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6629400" y="38404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数据检查</a:t>
            </a:r>
            <a:endParaRPr sz="1650" b="1">
              <a:solidFill>
                <a:srgbClr val="18215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6629400" y="4270248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python main.py --check-data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REAL DATA CHECK PASSED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13,611 行 · 17 列 · 0 缺失 · 7 类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许可：Kaggle 页面标注 CC0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502920" y="6473952"/>
            <a:ext cx="11155680" cy="3057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00" b="0">
                <a:solidFill>
                  <a:srgbClr val="576574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选择原因：真实公开、规模适中、7 类分类可直接评估</a:t>
            </a:r>
            <a:endParaRPr sz="1125" b="0">
              <a:solidFill>
                <a:srgbClr val="5560E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0" y="6762750"/>
            <a:ext cx="12192000" cy="9525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txBody>
          <a:bodyPr wrap="square"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47650" y="247650"/>
            <a:ext cx="66675" cy="63627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txBody>
          <a:bodyPr wrap="square"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64592" cy="932688"/>
          </a:xfrm>
          <a:prstGeom prst="rect">
            <a:avLst/>
          </a:prstGeom>
          <a:solidFill>
            <a:srgbClr val="1F2BE0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02920" y="82296"/>
            <a:ext cx="11155680" cy="305753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125" b="1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1F2B60"/>
                </a:solidFill>
                <a:latin typeface="微软雅黑" panose="020B0503020204020204" charset="-122"/>
              </a:rPr>
              <a:t>02A · 类别说明</a:t>
            </a:r>
            <a:endParaRPr sz="13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88900" tIns="76200" rIns="88900" bIns="5080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700" b="1">
                <a:solidFill>
                  <a:srgbClr val="1F2BE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00" b="1">
                <a:solidFill>
                  <a:srgbClr val="1F2B60"/>
                </a:solidFill>
                <a:latin typeface="微软雅黑" panose="020B0503020204020204" charset="-122"/>
              </a:rPr>
              <a:t>七种干豆类别：标签与样本分布</a:t>
            </a:r>
            <a:endParaRPr sz="2700" b="1">
              <a:solidFill>
                <a:srgbClr val="1E2C3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48640" y="1234440"/>
            <a:ext cx="5486400" cy="22860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77240" y="1371600"/>
            <a:ext cx="502920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类别标签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77240" y="1801368"/>
            <a:ext cx="5029200" cy="160020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303A40"/>
                </a:solidFill>
                <a:latin typeface="微软雅黑" panose="020B0503020204020204" charset="-122"/>
                <a:sym typeface="+mn-ea"/>
              </a:rPr>
              <a:t>BARBUNYA、BOMBAY、CALI、DERMASON、HOROZ、SEKER、SIRA 是数据集给出的 7 个干豆品种标签</a:t>
            </a: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保留英文原名，</a:t>
            </a:r>
            <a:endParaRPr sz="16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400800" y="1234440"/>
            <a:ext cx="5212080" cy="22860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629400" y="1371600"/>
            <a:ext cx="475488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分类依据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629400" y="1801368"/>
            <a:ext cx="4754880" cy="160020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不是凭名称分类，而是根据种子图像提取的 16 项形态特征，例如面积、周长、长短轴、圆度与紧致度。</a:t>
            </a:r>
            <a:endParaRPr sz="1600" b="1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每条记录对应一颗种子及其真实品种标签。</a:t>
            </a:r>
            <a:endParaRPr sz="16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48640" y="3703320"/>
            <a:ext cx="5486400" cy="22860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77240" y="3840480"/>
            <a:ext cx="502920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样本分布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77240" y="4270248"/>
            <a:ext cx="5029200" cy="160020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合计 13,611 条记录</a:t>
            </a:r>
            <a:endParaRPr sz="1500" b="1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德尔马森 3,546（26.1%）  ·  西拉 2,636（19.4%）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塞克尔 2,027（14.9%）  ·  霍罗兹 1,928（14.2%）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卡利 1,630（12.0%）  ·  巴尔布尼亚 1,322（9.7%）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孟买 522（3.8%）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400800" y="3703320"/>
            <a:ext cx="5212080" cy="22860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629400" y="3840480"/>
            <a:ext cx="475488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解读要点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629400" y="4270248"/>
            <a:ext cx="4754880" cy="160020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类别数量并不完全均衡，因此使用 Macro F1 让 7 个品种获得相同权重。</a:t>
            </a:r>
            <a:endParaRPr sz="1600" b="1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德尔马森 与 西拉 的形态特征更接近，是后续错误分析的重点。</a:t>
            </a:r>
            <a:endParaRPr sz="16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502920" y="6473952"/>
            <a:ext cx="11155680" cy="305753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125" b="0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00" b="0">
                <a:solidFill>
                  <a:srgbClr val="576574"/>
                </a:solidFill>
                <a:latin typeface="微软雅黑" panose="020B0503020204020204" charset="-122"/>
              </a:rPr>
              <a:t>数据来自原始 ARFF 文件；样本数按 Class 标签统计</a:t>
            </a:r>
            <a:endParaRPr sz="1200" b="0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0" y="6762750"/>
            <a:ext cx="12192000" cy="9525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txBody>
          <a:bodyPr wrap="square"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47650" y="247650"/>
            <a:ext cx="66675" cy="63627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txBody>
          <a:bodyPr wrap="square"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64592" cy="932688"/>
          </a:xfrm>
          <a:prstGeom prst="rect">
            <a:avLst/>
          </a:prstGeom>
          <a:solidFill>
            <a:srgbClr val="1F2BE0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02920" y="82296"/>
            <a:ext cx="11155680" cy="3057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1F2B60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03 · 问题与使用者</a:t>
            </a:r>
            <a:endParaRPr sz="1125" b="1">
              <a:solidFill>
                <a:srgbClr val="5560E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F2BE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00" b="1" dirty="0" err="1">
                <a:solidFill>
                  <a:srgbClr val="1F2B60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整理人员需要一个辅助分类工具</a:t>
            </a:r>
            <a:endParaRPr sz="2700" b="1" dirty="0">
              <a:solidFill>
                <a:srgbClr val="1F2BE0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48640" y="1234440"/>
            <a:ext cx="5486400" cy="48006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777240" y="137160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使用者与小决定</a:t>
            </a:r>
            <a:endParaRPr sz="1650" b="1">
              <a:solidFill>
                <a:srgbClr val="18215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777240" y="1801368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使用者：干豆整理人员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决定：根据候选品种进入对应分组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不确定或异常时：交给人工复核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buNone/>
            </a:pP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核心问题：根据 16 项形状测量，输出 7 个品种之一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400800" y="1234440"/>
            <a:ext cx="5212080" cy="48006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629400" y="13716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输入、输出与边界</a:t>
            </a:r>
            <a:endParaRPr sz="1650" b="1">
              <a:solidFill>
                <a:srgbClr val="18215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6629400" y="1801368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输入：16 个数值特征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输出：7 个候选类别之一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buNone/>
            </a:pP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普通案例：测量值满足数据契约，输出一个类别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困难案例：特征接近类别边界时可能错分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buNone/>
            </a:pP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边界：不处理原始照片，不部署生产系统，不替代品种专家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502920" y="6473952"/>
            <a:ext cx="11155680" cy="3057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00" b="0">
                <a:solidFill>
                  <a:srgbClr val="576574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每个结果都回到真实数据、固定划分和可复现命令</a:t>
            </a:r>
            <a:endParaRPr sz="1125" b="0">
              <a:solidFill>
                <a:srgbClr val="5560E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0" y="6762750"/>
            <a:ext cx="12192000" cy="9525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txBody>
          <a:bodyPr wrap="square"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47650" y="247650"/>
            <a:ext cx="66675" cy="63627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txBody>
          <a:bodyPr wrap="square"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64592" cy="932688"/>
          </a:xfrm>
          <a:prstGeom prst="rect">
            <a:avLst/>
          </a:prstGeom>
          <a:solidFill>
            <a:srgbClr val="1F2BE0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02920" y="82296"/>
            <a:ext cx="11155680" cy="305753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125" b="1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1F2B60"/>
                </a:solidFill>
                <a:latin typeface="微软雅黑" panose="020B0503020204020204" charset="-122"/>
              </a:rPr>
              <a:t>04 · 评估设计</a:t>
            </a:r>
            <a:endParaRPr sz="13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88900" tIns="76200" rIns="88900" bIns="5080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700" b="1">
                <a:solidFill>
                  <a:srgbClr val="1F2BE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00" b="1">
                <a:solidFill>
                  <a:srgbClr val="1F2B60"/>
                </a:solidFill>
                <a:latin typeface="微软雅黑" panose="020B0503020204020204" charset="-122"/>
              </a:rPr>
              <a:t>先分训练集，再公平比较模型</a:t>
            </a:r>
            <a:endParaRPr sz="2800" b="1">
              <a:solidFill>
                <a:srgbClr val="1E2C3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48640" y="1234440"/>
            <a:ext cx="5486400" cy="48006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777240" y="1371600"/>
            <a:ext cx="502920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第 1 步：先留出测试集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777240" y="1801368"/>
            <a:ext cx="5029200" cy="411480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13,611 条真实记录按类别比例分层：80% 训练、20% 测试。</a:t>
            </a:r>
            <a:endParaRPr sz="16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训练集：10,888 条，用来学习规则；测试集：2,723 条，始终不参与训练。</a:t>
            </a:r>
            <a:endParaRPr sz="16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固定 random_state = 42，三种方法看到的是同一批训练/测试记录。</a:t>
            </a:r>
            <a:endParaRPr sz="16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400800" y="1234440"/>
            <a:ext cx="5212080" cy="48006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629400" y="1371600"/>
            <a:ext cx="475488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第 2 步：同条件评估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6629400" y="1801368"/>
            <a:ext cx="4754880" cy="411480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多数类基线、逻辑回归、随机森林都只在 10,888 条训练集上拟合。</a:t>
            </a:r>
            <a:endParaRPr sz="16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都在相同 2,723 条测试集上计 Accuracy、Macro F1 和错误条数。</a:t>
            </a:r>
            <a:endParaRPr sz="16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这样性能差异来自模型的学习方式，而不是数据或测试题不同。</a:t>
            </a:r>
            <a:endParaRPr sz="16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502920" y="6473952"/>
            <a:ext cx="11155680" cy="305753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125" b="0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00" b="0">
                <a:solidFill>
                  <a:srgbClr val="576574"/>
                </a:solidFill>
                <a:latin typeface="微软雅黑" panose="020B0503020204020204" charset="-122"/>
              </a:rPr>
              <a:t>测试集只用于最后打分，不用于反复调参；这保证三种方法的比较公平。</a:t>
            </a:r>
            <a:endParaRPr sz="1300" b="0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0" y="6762750"/>
            <a:ext cx="12192000" cy="9525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txBody>
          <a:bodyPr wrap="square"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47650" y="247650"/>
            <a:ext cx="66675" cy="63627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txBody>
          <a:bodyPr wrap="square"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64592" cy="932688"/>
          </a:xfrm>
          <a:prstGeom prst="rect">
            <a:avLst/>
          </a:prstGeom>
          <a:solidFill>
            <a:srgbClr val="1F2BE0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02920" y="82296"/>
            <a:ext cx="11155680" cy="3057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1F2B60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05 · 方法一</a:t>
            </a:r>
            <a:endParaRPr sz="1125" b="1">
              <a:solidFill>
                <a:srgbClr val="5560E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88900" tIns="76200" rIns="88900" bIns="5080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700" b="1">
                <a:solidFill>
                  <a:srgbClr val="1F2BE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00" b="1">
                <a:solidFill>
                  <a:srgbClr val="1F2B60"/>
                </a:solidFill>
                <a:latin typeface="微软雅黑" panose="020B0503020204020204" charset="-122"/>
              </a:rPr>
              <a:t>多数类基线：完全不看形状</a:t>
            </a:r>
            <a:endParaRPr sz="2800" b="1">
              <a:solidFill>
                <a:srgbClr val="1E2C3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48640" y="1234440"/>
            <a:ext cx="5486400" cy="233172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777240" y="1371600"/>
            <a:ext cx="502920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训练时“学到”什么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777240" y="1801368"/>
            <a:ext cx="5029200" cy="1645919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代码只统计 10,888 个训练标签的出现次数，不读取 16 个形态特征。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训练集中 德尔马森 最多（2,837 条），所以模型只记住一个输出：德尔马森。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400800" y="1234440"/>
            <a:ext cx="5212080" cy="233172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629400" y="1371600"/>
            <a:ext cx="475488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一颗豆怎样被判断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6629400" y="1801368"/>
            <a:ext cx="4754880" cy="1645919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无论输入的面积、周长、圆度是什么，输出都一样：德尔马森。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所以真实标签是 德尔马森 时可能正确；其余 6 类必然预测错误。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48640" y="3749039"/>
            <a:ext cx="5486400" cy="233172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777240" y="3886200"/>
            <a:ext cx="502920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同一测试集的结果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777240" y="4315968"/>
            <a:ext cx="5029200" cy="1645919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正确 709 / 2,723；测试错误 2,014 条。</a:t>
            </a:r>
            <a:endParaRPr sz="16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Accuracy：0.2604  ·  Macro F1：0.0590  ·  只预测 1 / 7 类。</a:t>
            </a:r>
            <a:endParaRPr sz="16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400800" y="3749039"/>
            <a:ext cx="5212080" cy="233172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6629400" y="3886200"/>
            <a:ext cx="475488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为什么错误这么多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6629400" y="4315968"/>
            <a:ext cx="4754880" cy="1645919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它把“最常见”误当成“全部”，没有利用任何形状信息。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作用是给候选模型设下限：逻辑回归必须显著少于 2,014 条错误才有实际价值。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502920" y="6473952"/>
            <a:ext cx="11155680" cy="3057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00" b="0">
                <a:solidFill>
                  <a:srgbClr val="576574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同一固定测试集：2,723 条</a:t>
            </a:r>
            <a:endParaRPr sz="1125" b="0">
              <a:solidFill>
                <a:srgbClr val="5560E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0" y="6762750"/>
            <a:ext cx="12192000" cy="9525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txBody>
          <a:bodyPr wrap="square"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47650" y="247650"/>
            <a:ext cx="66675" cy="63627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txBody>
          <a:bodyPr wrap="square"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64592" cy="932688"/>
          </a:xfrm>
          <a:prstGeom prst="rect">
            <a:avLst/>
          </a:prstGeom>
          <a:solidFill>
            <a:srgbClr val="1F2BE0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02920" y="82296"/>
            <a:ext cx="11155680" cy="3057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1F2B60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06 · 方法二</a:t>
            </a:r>
            <a:endParaRPr sz="1125" b="1">
              <a:solidFill>
                <a:srgbClr val="5560E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88900" tIns="76200" rIns="88900" bIns="5080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700" b="1">
                <a:solidFill>
                  <a:srgbClr val="1F2BE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00" b="1">
                <a:solidFill>
                  <a:srgbClr val="1F2B60"/>
                </a:solidFill>
                <a:latin typeface="微软雅黑" panose="020B0503020204020204" charset="-122"/>
              </a:rPr>
              <a:t>标准化 + 逻辑回归</a:t>
            </a:r>
            <a:endParaRPr sz="2800" b="1">
              <a:solidFill>
                <a:srgbClr val="1E2C3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48640" y="1234440"/>
            <a:ext cx="5486400" cy="233172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777240" y="1371600"/>
            <a:ext cx="502920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训练时学到什么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777240" y="1801368"/>
            <a:ext cx="5029200" cy="1645919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在 10,888 条训练记录上：先用 StandardScaler 把每个特征变为同一尺度。</a:t>
            </a:r>
            <a:endParaRPr sz="1500" b="1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再为 7 个品种学习一组权重，形成 7 条线性决策边界。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它学习的是特征的加权组合，不是单一的“面积大于某值”规则。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400800" y="1234440"/>
            <a:ext cx="5212080" cy="233172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629400" y="1371600"/>
            <a:ext cx="475488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一颗豆怎样被判断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6629400" y="1801368"/>
            <a:ext cx="4754880" cy="1645919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一条测试记录的 16 个值先按训练集的均值和标准差转换。</a:t>
            </a:r>
            <a:endParaRPr sz="1500" b="1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模型给 7 个类别分别算得分/概率，最高者就是输出类别。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标准化不可省略，否则面积等大尺度特征会主导计算。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48640" y="3749039"/>
            <a:ext cx="5486400" cy="233172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777240" y="3886200"/>
            <a:ext cx="502920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结果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777240" y="4315968"/>
            <a:ext cx="5029200" cy="1645919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Accuracy：0.9214  ·  Macro F1：0.9335</a:t>
            </a:r>
            <a:endParaRPr sz="1600" b="1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覆盖 7 / 7 类  ·  测试错误：214 条</a:t>
            </a:r>
            <a:endParaRPr sz="16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400800" y="3749039"/>
            <a:ext cx="5212080" cy="233172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6629400" y="3886200"/>
            <a:ext cx="475488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局限与解读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6629400" y="4315968"/>
            <a:ext cx="4754880" cy="1645919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在 2,723 条未参与训练的记录上错 214 条。</a:t>
            </a:r>
            <a:endParaRPr sz="1500" b="1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德尔马森 与 西拉 的形态特征会重叠；线性边界难以表达更复杂的特征组合。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502920" y="6473952"/>
            <a:ext cx="11155680" cy="3057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00" b="0">
                <a:solidFill>
                  <a:srgbClr val="576574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结果来自 python main.py --candidate</a:t>
            </a:r>
            <a:endParaRPr sz="1125" b="0">
              <a:solidFill>
                <a:srgbClr val="5560E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0" y="6762750"/>
            <a:ext cx="12192000" cy="9525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txBody>
          <a:bodyPr wrap="square"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47650" y="247650"/>
            <a:ext cx="66675" cy="63627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txBody>
          <a:bodyPr wrap="square"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64592" cy="932688"/>
          </a:xfrm>
          <a:prstGeom prst="rect">
            <a:avLst/>
          </a:prstGeom>
          <a:solidFill>
            <a:srgbClr val="1F2BE0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02920" y="82296"/>
            <a:ext cx="11155680" cy="3057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1F2B60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07 · 方法三</a:t>
            </a:r>
            <a:endParaRPr sz="1125" b="1">
              <a:solidFill>
                <a:srgbClr val="5560E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88900" tIns="76200" rIns="88900" bIns="5080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700" b="1">
                <a:solidFill>
                  <a:srgbClr val="1F2BE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00" b="1">
                <a:solidFill>
                  <a:srgbClr val="1F2B60"/>
                </a:solidFill>
                <a:latin typeface="微软雅黑" panose="020B0503020204020204" charset="-122"/>
              </a:rPr>
              <a:t>随机森林（300 棵树）</a:t>
            </a:r>
            <a:endParaRPr sz="2800" b="1">
              <a:solidFill>
                <a:srgbClr val="1E2C3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48640" y="1234440"/>
            <a:ext cx="5486400" cy="233172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777240" y="1371600"/>
            <a:ext cx="502920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训练时学到什么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777240" y="1801368"/>
            <a:ext cx="5029200" cy="1645919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从同一 10,888 条训练记录反复抽样，训练 300 棵不同的决策树。</a:t>
            </a:r>
            <a:endParaRPr sz="1500" b="1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每棵树逐步寻找特征阈值切分，并在每次切分时只看部分候选特征。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不同树学到的规则不同，组合后可降低单棵树偶然判断的影响。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400800" y="1234440"/>
            <a:ext cx="5212080" cy="233172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629400" y="1371600"/>
            <a:ext cx="475488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一颗豆怎样被判断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6629400" y="1801368"/>
            <a:ext cx="4754880" cy="1645919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一条测试记录依次通过 300 棵树；每棵树按已学到的阈值走到一个叶节点。</a:t>
            </a:r>
            <a:endParaRPr sz="1500" b="1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每棵树投出一个类别；300 票中票数最多的类别为最终输出。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树只比较大小，不要求预先标准化；能表达非线性和特征交互。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48640" y="3749039"/>
            <a:ext cx="5486400" cy="233172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777240" y="3886200"/>
            <a:ext cx="502920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结果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777240" y="4315968"/>
            <a:ext cx="5029200" cy="1645919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Accuracy：0.9218  ·  Macro F1：0.9342</a:t>
            </a:r>
            <a:endParaRPr sz="1600" b="1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覆盖 7 / 7 类  ·  测试错误：213 条</a:t>
            </a:r>
            <a:endParaRPr sz="16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400800" y="3749039"/>
            <a:ext cx="5212080" cy="233172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6629400" y="3886200"/>
            <a:ext cx="475488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增益解读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6629400" y="4315968"/>
            <a:ext cx="4754880" cy="1645919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在同一测试集上错 213 条，比逻辑回归仅少 1 条。</a:t>
            </a:r>
            <a:endParaRPr sz="1500" b="1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Macro F1 只提高 0.0007，说明现有特征中的线性信息已很强。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森林更灵活，但这里没有形成明显性能优势。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502920" y="6473952"/>
            <a:ext cx="11155680" cy="3057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00" b="0">
                <a:solidFill>
                  <a:srgbClr val="576574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结果来自 python main.py --random-forest</a:t>
            </a:r>
            <a:endParaRPr sz="1125" b="0">
              <a:solidFill>
                <a:srgbClr val="5560E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0" y="6762750"/>
            <a:ext cx="12192000" cy="9525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txBody>
          <a:bodyPr wrap="square"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47650" y="247650"/>
            <a:ext cx="66675" cy="63627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txBody>
          <a:bodyPr wrap="square"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64592" cy="932688"/>
          </a:xfrm>
          <a:prstGeom prst="rect">
            <a:avLst/>
          </a:prstGeom>
          <a:solidFill>
            <a:srgbClr val="1F2BE0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02920" y="82296"/>
            <a:ext cx="11155680" cy="305753"/>
          </a:xfrm>
          <a:prstGeom prst="rect">
            <a:avLst/>
          </a:prstGeom>
          <a:noFill/>
        </p:spPr>
        <p:txBody>
          <a:bodyPr wrap="square" lIns="88900" tIns="635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buNone/>
              <a:defRPr sz="1125" b="1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1F2B60"/>
                </a:solidFill>
                <a:latin typeface="微软雅黑" panose="020B0503020204020204" charset="-122"/>
              </a:rPr>
              <a:t>07B · 核心实现</a:t>
            </a:r>
            <a:endParaRPr sz="13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88900" tIns="63500" rIns="88900" bIns="5080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buNone/>
              <a:defRPr sz="2700" b="1">
                <a:solidFill>
                  <a:srgbClr val="1F2BE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700" b="1">
                <a:solidFill>
                  <a:srgbClr val="1F2B60"/>
                </a:solidFill>
                <a:latin typeface="微软雅黑" panose="020B0503020204020204" charset="-122"/>
              </a:rPr>
              <a:t>逻辑回归与随机森林：代码如何对应方法</a:t>
            </a:r>
            <a:endParaRPr sz="2700" b="1">
              <a:solidFill>
                <a:srgbClr val="1E2C3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48640" y="1234440"/>
            <a:ext cx="5486400" cy="22860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777240" y="1371600"/>
            <a:ext cx="5029200" cy="411480"/>
          </a:xfrm>
          <a:prstGeom prst="rect">
            <a:avLst/>
          </a:prstGeom>
          <a:noFill/>
        </p:spPr>
        <p:txBody>
          <a:bodyPr wrap="square" lIns="88900" tIns="635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逻辑回归训练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777240" y="1801368"/>
            <a:ext cx="5029200" cy="1600200"/>
          </a:xfrm>
          <a:prstGeom prst="rect">
            <a:avLst/>
          </a:prstGeom>
          <a:noFill/>
        </p:spPr>
        <p:txBody>
          <a:bodyPr wrap="square" lIns="88900" tIns="635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2A3038"/>
                </a:solidFill>
                <a:latin typeface="Consolas" panose="020B0609020204030204"/>
              </a:rPr>
              <a:t>model = make_pipeline(</a:t>
            </a:r>
            <a:endParaRPr sz="1600" b="1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A3038"/>
                </a:solidFill>
                <a:latin typeface="Consolas" panose="020B0609020204030204"/>
              </a:rPr>
              <a:t>  StandardScaler(),</a:t>
            </a:r>
            <a:endParaRPr sz="1200" b="0">
              <a:solidFill>
                <a:srgbClr val="2A3038"/>
              </a:solidFill>
              <a:latin typeface="Consolas" panose="020B060902020403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A3038"/>
                </a:solidFill>
                <a:latin typeface="Consolas" panose="020B0609020204030204"/>
              </a:rPr>
              <a:t>  LogisticRegression(max_iter=2000, random_state=42)</a:t>
            </a:r>
            <a:endParaRPr sz="1200" b="0">
              <a:solidFill>
                <a:srgbClr val="2A3038"/>
              </a:solidFill>
              <a:latin typeface="Consolas" panose="020B060902020403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A3038"/>
                </a:solidFill>
                <a:latin typeface="Consolas" panose="020B0609020204030204"/>
              </a:rPr>
              <a:t>)</a:t>
            </a:r>
            <a:endParaRPr sz="1200" b="0">
              <a:solidFill>
                <a:srgbClr val="2A3038"/>
              </a:solidFill>
              <a:latin typeface="Consolas" panose="020B060902020403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A3038"/>
                </a:solidFill>
                <a:latin typeface="Consolas" panose="020B0609020204030204"/>
              </a:rPr>
              <a:t>model.fit(train_x, train_y)</a:t>
            </a:r>
            <a:endParaRPr sz="1200" b="0">
              <a:solidFill>
                <a:srgbClr val="2A3038"/>
              </a:solidFill>
              <a:latin typeface="Consolas" panose="020B060902020403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400800" y="1234440"/>
            <a:ext cx="5212080" cy="22860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629400" y="1371600"/>
            <a:ext cx="4754880" cy="411480"/>
          </a:xfrm>
          <a:prstGeom prst="rect">
            <a:avLst/>
          </a:prstGeom>
          <a:noFill/>
        </p:spPr>
        <p:txBody>
          <a:bodyPr wrap="square" lIns="88900" tIns="635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随机森林训练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6629400" y="1801368"/>
            <a:ext cx="4754880" cy="1600200"/>
          </a:xfrm>
          <a:prstGeom prst="rect">
            <a:avLst/>
          </a:prstGeom>
          <a:noFill/>
        </p:spPr>
        <p:txBody>
          <a:bodyPr wrap="square" lIns="88900" tIns="635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2A3038"/>
                </a:solidFill>
                <a:latin typeface="Consolas" panose="020B0609020204030204"/>
              </a:rPr>
              <a:t>model = RandomForestClassifier(</a:t>
            </a:r>
            <a:endParaRPr sz="1600" b="1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A3038"/>
                </a:solidFill>
                <a:latin typeface="Consolas" panose="020B0609020204030204"/>
              </a:rPr>
              <a:t>  n_estimators=300, random_state=42, n_jobs=-1</a:t>
            </a:r>
            <a:endParaRPr sz="1200" b="0">
              <a:solidFill>
                <a:srgbClr val="2A3038"/>
              </a:solidFill>
              <a:latin typeface="Consolas" panose="020B060902020403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A3038"/>
                </a:solidFill>
                <a:latin typeface="Consolas" panose="020B0609020204030204"/>
              </a:rPr>
              <a:t>)</a:t>
            </a:r>
            <a:endParaRPr sz="1200" b="0">
              <a:solidFill>
                <a:srgbClr val="2A3038"/>
              </a:solidFill>
              <a:latin typeface="Consolas" panose="020B060902020403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A3038"/>
                </a:solidFill>
                <a:latin typeface="Consolas" panose="020B0609020204030204"/>
              </a:rPr>
              <a:t>model.fit(train_x, train_y)</a:t>
            </a:r>
            <a:endParaRPr sz="1200" b="0">
              <a:solidFill>
                <a:srgbClr val="2A3038"/>
              </a:solidFill>
              <a:latin typeface="Consolas" panose="020B060902020403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A3038"/>
                </a:solidFill>
                <a:latin typeface="Consolas" panose="020B0609020204030204"/>
              </a:rPr>
              <a:t># 树模型按阈值切分，不需标准化</a:t>
            </a:r>
            <a:endParaRPr sz="1200" b="0">
              <a:solidFill>
                <a:srgbClr val="2A3038"/>
              </a:solidFill>
              <a:latin typeface="Consolas" panose="020B060902020403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48640" y="3703320"/>
            <a:ext cx="5486400" cy="22860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777240" y="3840480"/>
            <a:ext cx="5029200" cy="411480"/>
          </a:xfrm>
          <a:prstGeom prst="rect">
            <a:avLst/>
          </a:prstGeom>
          <a:noFill/>
        </p:spPr>
        <p:txBody>
          <a:bodyPr wrap="square" lIns="88900" tIns="635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共同评估条件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777240" y="4270248"/>
            <a:ext cx="5029200" cy="1600200"/>
          </a:xfrm>
          <a:prstGeom prst="rect">
            <a:avLst/>
          </a:prstGeom>
          <a:noFill/>
        </p:spPr>
        <p:txBody>
          <a:bodyPr wrap="square" lIns="88900" tIns="635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2A3038"/>
                </a:solidFill>
                <a:latin typeface="Consolas" panose="020B0609020204030204"/>
              </a:rPr>
              <a:t>train_test_split(..., test_size=0.20,</a:t>
            </a:r>
            <a:endParaRPr sz="1500" b="1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A3038"/>
                </a:solidFill>
                <a:latin typeface="Consolas" panose="020B0609020204030204"/>
              </a:rPr>
              <a:t>                 random_state=42, stratify=labels)</a:t>
            </a:r>
            <a:endParaRPr sz="1200" b="0">
              <a:solidFill>
                <a:srgbClr val="2A3038"/>
              </a:solidFill>
              <a:latin typeface="Consolas" panose="020B060902020403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A3038"/>
                </a:solidFill>
                <a:latin typeface="Consolas" panose="020B0609020204030204"/>
              </a:rPr>
              <a:t>训练集 10,888 条；测试集 2,723 条。</a:t>
            </a:r>
            <a:endParaRPr sz="1200" b="0">
              <a:solidFill>
                <a:srgbClr val="2A3038"/>
              </a:solidFill>
              <a:latin typeface="Consolas" panose="020B060902020403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A3038"/>
                </a:solidFill>
                <a:latin typeface="Consolas" panose="020B0609020204030204"/>
              </a:rPr>
              <a:t>两种模型都在同一测试集上比较 Accuracy、Macro F1 与错误数。</a:t>
            </a:r>
            <a:endParaRPr sz="1200" b="0">
              <a:solidFill>
                <a:srgbClr val="2A3038"/>
              </a:solidFill>
              <a:latin typeface="Consolas" panose="020B060902020403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400800" y="3703320"/>
            <a:ext cx="5212080" cy="22860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6629400" y="3840480"/>
            <a:ext cx="4754880" cy="411480"/>
          </a:xfrm>
          <a:prstGeom prst="rect">
            <a:avLst/>
          </a:prstGeom>
          <a:noFill/>
        </p:spPr>
        <p:txBody>
          <a:bodyPr wrap="square" lIns="88900" tIns="635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最小实验命令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6629400" y="4270248"/>
            <a:ext cx="4754880" cy="1600200"/>
          </a:xfrm>
          <a:prstGeom prst="rect">
            <a:avLst/>
          </a:prstGeom>
          <a:noFill/>
        </p:spPr>
        <p:txBody>
          <a:bodyPr wrap="square" lIns="88900" tIns="635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2A3038"/>
                </a:solidFill>
                <a:latin typeface="Consolas" panose="020B0609020204030204"/>
              </a:rPr>
              <a:t>python main.py --candidate</a:t>
            </a:r>
            <a:endParaRPr sz="1600" b="1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A3038"/>
                </a:solidFill>
                <a:latin typeface="Consolas" panose="020B0609020204030204"/>
              </a:rPr>
              <a:t>python main.py --random-forest</a:t>
            </a:r>
            <a:endParaRPr sz="1200" b="0">
              <a:solidFill>
                <a:srgbClr val="2A3038"/>
              </a:solidFill>
              <a:latin typeface="Consolas" panose="020B060902020403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A3038"/>
                </a:solidFill>
                <a:latin typeface="Consolas" panose="020B0609020204030204"/>
              </a:rPr>
              <a:t>python main.py --minimum-experiment</a:t>
            </a:r>
            <a:endParaRPr sz="1200" b="0">
              <a:solidFill>
                <a:srgbClr val="2A3038"/>
              </a:solidFill>
              <a:latin typeface="Consolas" panose="020B060902020403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A3038"/>
                </a:solidFill>
                <a:latin typeface="Consolas" panose="020B0609020204030204"/>
              </a:rPr>
              <a:t>新增命令会保存 results/ 中的 CSV 与 JSON 证据。</a:t>
            </a:r>
            <a:endParaRPr sz="1200" b="0">
              <a:solidFill>
                <a:srgbClr val="2A3038"/>
              </a:solidFill>
              <a:latin typeface="Consolas" panose="020B0609020204030204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502920" y="6473952"/>
            <a:ext cx="11155680" cy="305753"/>
          </a:xfrm>
          <a:prstGeom prst="rect">
            <a:avLst/>
          </a:prstGeom>
          <a:noFill/>
        </p:spPr>
        <p:txBody>
          <a:bodyPr wrap="square" lIns="88900" tIns="635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buNone/>
              <a:defRPr sz="1125" b="0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00" b="0">
                <a:solidFill>
                  <a:srgbClr val="576574"/>
                </a:solidFill>
                <a:latin typeface="微软雅黑" panose="020B0503020204020204" charset="-122"/>
              </a:rPr>
              <a:t>代码位于项目 main.py；所有参数和数据划分均固定，便于复现。</a:t>
            </a:r>
            <a:endParaRPr sz="1200" b="0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0" y="6762750"/>
            <a:ext cx="12192000" cy="9525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txBody>
          <a:bodyPr wrap="square"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47650" y="247650"/>
            <a:ext cx="66675" cy="63627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txBody>
          <a:bodyPr wrap="square"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64592" cy="932688"/>
          </a:xfrm>
          <a:prstGeom prst="rect">
            <a:avLst/>
          </a:prstGeom>
          <a:solidFill>
            <a:srgbClr val="1F2BE0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02920" y="82296"/>
            <a:ext cx="11155680" cy="305753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125" b="1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1F2B60"/>
                </a:solidFill>
                <a:latin typeface="微软雅黑" panose="020B0503020204020204" charset="-122"/>
              </a:rPr>
              <a:t>07A · 真实样本示例</a:t>
            </a:r>
            <a:endParaRPr sz="13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88900" tIns="76200" rIns="88900" bIns="5080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700" b="1">
                <a:solidFill>
                  <a:srgbClr val="1F2BE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00" b="1">
                <a:solidFill>
                  <a:srgbClr val="1F2B60"/>
                </a:solidFill>
                <a:latin typeface="微软雅黑" panose="020B0503020204020204" charset="-122"/>
              </a:rPr>
              <a:t>同一颗豆，三种模型怎样处理？</a:t>
            </a:r>
            <a:endParaRPr sz="2700" b="1">
              <a:solidFill>
                <a:srgbClr val="1E2C3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48640" y="1234440"/>
            <a:ext cx="5486400" cy="22860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777240" y="1371600"/>
            <a:ext cx="502920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输入：第 13,592 条测试记录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777240" y="1801368"/>
            <a:ext cx="5029200" cy="160020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Area 41,964  ·  Perimeter 756.8870  ·  roundness 0.920502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另有 13 个形态特征；真实类别：德尔马森。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这条记录来自固定测试集，未参与训练。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400800" y="1234440"/>
            <a:ext cx="5212080" cy="22860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629400" y="1371600"/>
            <a:ext cx="475488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多数类基线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6629400" y="1801368"/>
            <a:ext cx="4754880" cy="160020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完全忽略上面的 16 个数值，直接输出 德尔马森。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这条恰好预测正确；但它会对所有豆都给同一个答案，因此整体错 2,014 条。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48640" y="3703320"/>
            <a:ext cx="5486400" cy="22860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777240" y="3840480"/>
            <a:ext cx="502920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逻辑回归：真实错误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777240" y="4270248"/>
            <a:ext cx="5029200" cy="160020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16 项输入先标准化，再合成 7 个类别的得分/概率。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这条记录中 西拉 得分最高：真实 德尔马森 → 预测 西拉。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德尔马森 → 西拉 是逻辑回归最常见混淆（52 条）。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400800" y="3703320"/>
            <a:ext cx="5212080" cy="22860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6629400" y="3840480"/>
            <a:ext cx="4754880" cy="41148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随机森林：投票机制</a:t>
            </a:r>
            <a:endParaRPr sz="1600" b="1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6629400" y="4270248"/>
            <a:ext cx="4754880" cy="1600200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同一组 16 项输入分别经过 300 棵树的阈值判断，再按多数票输出类别。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</a:rPr>
              <a:t>当前代码保存的是总错误 213 条，没有保存这一行的 300 票详情；不据此虚构单条预测。</a:t>
            </a:r>
            <a:endParaRPr sz="1500" b="0">
              <a:solidFill>
                <a:srgbClr val="303A40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502920" y="6473952"/>
            <a:ext cx="11155680" cy="305753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125" b="0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00" b="0">
                <a:solidFill>
                  <a:srgbClr val="576574"/>
                </a:solidFill>
                <a:latin typeface="微软雅黑" panose="020B0503020204020204" charset="-122"/>
              </a:rPr>
              <a:t>关键差异：基线不看输入；逻辑回归用一条线性打分规则；随机森林用 300 条非线性规则投票。</a:t>
            </a:r>
            <a:endParaRPr sz="1200" b="0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0" y="6762750"/>
            <a:ext cx="12192000" cy="9525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txBody>
          <a:bodyPr wrap="square"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47650" y="247650"/>
            <a:ext cx="66675" cy="63627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txBody>
          <a:bodyPr wrap="square"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64592" cy="932688"/>
          </a:xfrm>
          <a:prstGeom prst="rect">
            <a:avLst/>
          </a:prstGeom>
          <a:solidFill>
            <a:srgbClr val="1F2BE0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02920" y="82296"/>
            <a:ext cx="11155680" cy="3057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1F2B60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08 · 同条件对比</a:t>
            </a:r>
            <a:endParaRPr sz="1125" b="1">
              <a:solidFill>
                <a:srgbClr val="5560E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F2BE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00" b="1">
                <a:solidFill>
                  <a:srgbClr val="1F2B60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同一固定测试集上的结果</a:t>
            </a:r>
            <a:endParaRPr sz="2700" b="1">
              <a:solidFill>
                <a:srgbClr val="1F2BE0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graphicFrame>
        <p:nvGraphicFramePr>
          <p:cNvPr id="25" name="Table 5"/>
          <p:cNvGraphicFramePr/>
          <p:nvPr/>
        </p:nvGraphicFramePr>
        <p:xfrm>
          <a:off x="640080" y="137160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B60"/>
                          </a:solidFill>
                          <a:latin typeface="微软雅黑" panose="020B0503020204020204" charset="-122"/>
                        </a:rPr>
                        <a:t>指标</a:t>
                      </a:r>
                      <a:endParaRPr sz="1600" b="1">
                        <a:solidFill>
                          <a:srgbClr val="1F2B60"/>
                        </a:solidFill>
                        <a:latin typeface="微软雅黑" panose="020B0503020204020204" charset="-122"/>
                      </a:endParaRPr>
                    </a:p>
                  </a:txBody>
                  <a:tcPr marL="63500" marR="63500" marT="50800" marB="50800">
                    <a:solidFill>
                      <a:srgbClr val="E6E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B60"/>
                          </a:solidFill>
                          <a:latin typeface="微软雅黑" panose="020B0503020204020204" charset="-122"/>
                        </a:rPr>
                        <a:t>多数类基线</a:t>
                      </a:r>
                      <a:endParaRPr sz="1600" b="1">
                        <a:solidFill>
                          <a:srgbClr val="1F2B60"/>
                        </a:solidFill>
                        <a:latin typeface="微软雅黑" panose="020B0503020204020204" charset="-122"/>
                      </a:endParaRPr>
                    </a:p>
                  </a:txBody>
                  <a:tcPr marL="63500" marR="63500" marT="50800" marB="50800">
                    <a:solidFill>
                      <a:srgbClr val="E6E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B60"/>
                          </a:solidFill>
                          <a:latin typeface="微软雅黑" panose="020B0503020204020204" charset="-122"/>
                        </a:rPr>
                        <a:t>逻辑回归</a:t>
                      </a:r>
                      <a:endParaRPr sz="1600" b="1">
                        <a:solidFill>
                          <a:srgbClr val="1F2B60"/>
                        </a:solidFill>
                        <a:latin typeface="微软雅黑" panose="020B0503020204020204" charset="-122"/>
                      </a:endParaRPr>
                    </a:p>
                  </a:txBody>
                  <a:tcPr marL="63500" marR="63500" marT="50800" marB="50800">
                    <a:solidFill>
                      <a:srgbClr val="E6E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B60"/>
                          </a:solidFill>
                          <a:latin typeface="微软雅黑" panose="020B0503020204020204" charset="-122"/>
                        </a:rPr>
                        <a:t>随机森林</a:t>
                      </a:r>
                      <a:endParaRPr sz="1600" b="1">
                        <a:solidFill>
                          <a:srgbClr val="1F2B60"/>
                        </a:solidFill>
                        <a:latin typeface="微软雅黑" panose="020B0503020204020204" charset="-122"/>
                      </a:endParaRPr>
                    </a:p>
                  </a:txBody>
                  <a:tcPr marL="63500" marR="63500" marT="50800" marB="50800">
                    <a:solidFill>
                      <a:srgbClr val="E6E0C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A3038"/>
                          </a:solidFill>
                          <a:latin typeface="微软雅黑" panose="020B0503020204020204" charset="-122"/>
                        </a:rPr>
                        <a:t>Accuracy</a:t>
                      </a:r>
                      <a:endParaRPr sz="1600" b="1">
                        <a:solidFill>
                          <a:srgbClr val="2A3038"/>
                        </a:solidFill>
                        <a:latin typeface="微软雅黑" panose="020B0503020204020204" charset="-122"/>
                      </a:endParaRPr>
                    </a:p>
                  </a:txBody>
                  <a:tcPr marL="63500" marR="63500" marT="50800" marB="50800">
                    <a:solidFill>
                      <a:srgbClr val="E6E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3038"/>
                          </a:solidFill>
                          <a:latin typeface="微软雅黑" panose="020B0503020204020204" charset="-122"/>
                        </a:rPr>
                        <a:t>0.2604</a:t>
                      </a:r>
                      <a:endParaRPr sz="1600" b="0">
                        <a:solidFill>
                          <a:srgbClr val="2A3038"/>
                        </a:solidFill>
                        <a:latin typeface="微软雅黑" panose="020B0503020204020204" charset="-122"/>
                      </a:endParaRPr>
                    </a:p>
                  </a:txBody>
                  <a:tcPr marL="63500" marR="63500" marT="50800" marB="50800">
                    <a:solidFill>
                      <a:srgbClr val="E6E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3038"/>
                          </a:solidFill>
                          <a:latin typeface="微软雅黑" panose="020B0503020204020204" charset="-122"/>
                        </a:rPr>
                        <a:t>0.9214</a:t>
                      </a:r>
                      <a:endParaRPr sz="1600" b="0">
                        <a:solidFill>
                          <a:srgbClr val="2A3038"/>
                        </a:solidFill>
                        <a:latin typeface="微软雅黑" panose="020B0503020204020204" charset="-122"/>
                      </a:endParaRPr>
                    </a:p>
                  </a:txBody>
                  <a:tcPr marL="63500" marR="63500" marT="50800" marB="50800">
                    <a:solidFill>
                      <a:srgbClr val="E6E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3038"/>
                          </a:solidFill>
                          <a:latin typeface="微软雅黑" panose="020B0503020204020204" charset="-122"/>
                        </a:rPr>
                        <a:t>0.9218</a:t>
                      </a:r>
                      <a:endParaRPr sz="1600" b="0">
                        <a:solidFill>
                          <a:srgbClr val="2A3038"/>
                        </a:solidFill>
                        <a:latin typeface="微软雅黑" panose="020B0503020204020204" charset="-122"/>
                      </a:endParaRPr>
                    </a:p>
                  </a:txBody>
                  <a:tcPr marL="63500" marR="63500" marT="50800" marB="50800">
                    <a:solidFill>
                      <a:srgbClr val="E6E0C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A3038"/>
                          </a:solidFill>
                          <a:latin typeface="微软雅黑" panose="020B0503020204020204" charset="-122"/>
                        </a:rPr>
                        <a:t>Macro F1</a:t>
                      </a:r>
                      <a:endParaRPr sz="1600" b="1">
                        <a:solidFill>
                          <a:srgbClr val="2A3038"/>
                        </a:solidFill>
                        <a:latin typeface="微软雅黑" panose="020B0503020204020204" charset="-122"/>
                      </a:endParaRPr>
                    </a:p>
                  </a:txBody>
                  <a:tcPr marL="63500" marR="63500" marT="50800" marB="50800">
                    <a:solidFill>
                      <a:srgbClr val="E6E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3038"/>
                          </a:solidFill>
                          <a:latin typeface="微软雅黑" panose="020B0503020204020204" charset="-122"/>
                        </a:rPr>
                        <a:t>0.0590</a:t>
                      </a:r>
                      <a:endParaRPr sz="1600" b="0">
                        <a:solidFill>
                          <a:srgbClr val="2A3038"/>
                        </a:solidFill>
                        <a:latin typeface="微软雅黑" panose="020B0503020204020204" charset="-122"/>
                      </a:endParaRPr>
                    </a:p>
                  </a:txBody>
                  <a:tcPr marL="63500" marR="63500" marT="50800" marB="50800">
                    <a:solidFill>
                      <a:srgbClr val="E6E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3038"/>
                          </a:solidFill>
                          <a:latin typeface="微软雅黑" panose="020B0503020204020204" charset="-122"/>
                        </a:rPr>
                        <a:t>0.9335</a:t>
                      </a:r>
                      <a:endParaRPr sz="1600" b="0">
                        <a:solidFill>
                          <a:srgbClr val="2A3038"/>
                        </a:solidFill>
                        <a:latin typeface="微软雅黑" panose="020B0503020204020204" charset="-122"/>
                      </a:endParaRPr>
                    </a:p>
                  </a:txBody>
                  <a:tcPr marL="63500" marR="63500" marT="50800" marB="50800">
                    <a:solidFill>
                      <a:srgbClr val="E6E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3038"/>
                          </a:solidFill>
                          <a:latin typeface="微软雅黑" panose="020B0503020204020204" charset="-122"/>
                        </a:rPr>
                        <a:t>0.9342</a:t>
                      </a:r>
                      <a:endParaRPr sz="1600" b="0">
                        <a:solidFill>
                          <a:srgbClr val="2A3038"/>
                        </a:solidFill>
                        <a:latin typeface="微软雅黑" panose="020B0503020204020204" charset="-122"/>
                      </a:endParaRPr>
                    </a:p>
                  </a:txBody>
                  <a:tcPr marL="63500" marR="63500" marT="50800" marB="50800">
                    <a:solidFill>
                      <a:srgbClr val="E6E0C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A3038"/>
                          </a:solidFill>
                          <a:latin typeface="微软雅黑" panose="020B0503020204020204" charset="-122"/>
                        </a:rPr>
                        <a:t>可预测类别数</a:t>
                      </a:r>
                      <a:endParaRPr sz="1600" b="1">
                        <a:solidFill>
                          <a:srgbClr val="2A3038"/>
                        </a:solidFill>
                        <a:latin typeface="微软雅黑" panose="020B0503020204020204" charset="-122"/>
                      </a:endParaRPr>
                    </a:p>
                  </a:txBody>
                  <a:tcPr marL="63500" marR="63500" marT="50800" marB="50800">
                    <a:solidFill>
                      <a:srgbClr val="E6E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3038"/>
                          </a:solidFill>
                          <a:latin typeface="微软雅黑" panose="020B0503020204020204" charset="-122"/>
                        </a:rPr>
                        <a:t>1 / 7</a:t>
                      </a:r>
                      <a:endParaRPr sz="1600" b="0">
                        <a:solidFill>
                          <a:srgbClr val="2A3038"/>
                        </a:solidFill>
                        <a:latin typeface="微软雅黑" panose="020B0503020204020204" charset="-122"/>
                      </a:endParaRPr>
                    </a:p>
                  </a:txBody>
                  <a:tcPr marL="63500" marR="63500" marT="50800" marB="50800">
                    <a:solidFill>
                      <a:srgbClr val="E6E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3038"/>
                          </a:solidFill>
                          <a:latin typeface="微软雅黑" panose="020B0503020204020204" charset="-122"/>
                        </a:rPr>
                        <a:t>7 / 7</a:t>
                      </a:r>
                      <a:endParaRPr sz="1600" b="0">
                        <a:solidFill>
                          <a:srgbClr val="2A3038"/>
                        </a:solidFill>
                        <a:latin typeface="微软雅黑" panose="020B0503020204020204" charset="-122"/>
                      </a:endParaRPr>
                    </a:p>
                  </a:txBody>
                  <a:tcPr marL="63500" marR="63500" marT="50800" marB="50800">
                    <a:solidFill>
                      <a:srgbClr val="E6E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3038"/>
                          </a:solidFill>
                          <a:latin typeface="微软雅黑" panose="020B0503020204020204" charset="-122"/>
                        </a:rPr>
                        <a:t>7 / 7</a:t>
                      </a:r>
                      <a:endParaRPr sz="1600" b="0">
                        <a:solidFill>
                          <a:srgbClr val="2A3038"/>
                        </a:solidFill>
                        <a:latin typeface="微软雅黑" panose="020B0503020204020204" charset="-122"/>
                      </a:endParaRPr>
                    </a:p>
                  </a:txBody>
                  <a:tcPr marL="63500" marR="63500" marT="50800" marB="50800">
                    <a:solidFill>
                      <a:srgbClr val="E6E0C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A3038"/>
                          </a:solidFill>
                          <a:latin typeface="微软雅黑" panose="020B0503020204020204" charset="-122"/>
                        </a:rPr>
                        <a:t>测试错误数</a:t>
                      </a:r>
                      <a:endParaRPr sz="1600" b="1">
                        <a:solidFill>
                          <a:srgbClr val="2A3038"/>
                        </a:solidFill>
                        <a:latin typeface="微软雅黑" panose="020B0503020204020204" charset="-122"/>
                      </a:endParaRPr>
                    </a:p>
                  </a:txBody>
                  <a:tcPr marL="63500" marR="63500" marT="50800" marB="50800">
                    <a:solidFill>
                      <a:srgbClr val="E6E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3038"/>
                          </a:solidFill>
                          <a:latin typeface="微软雅黑" panose="020B0503020204020204" charset="-122"/>
                        </a:rPr>
                        <a:t>2,014</a:t>
                      </a:r>
                      <a:endParaRPr sz="1600" b="0">
                        <a:solidFill>
                          <a:srgbClr val="2A3038"/>
                        </a:solidFill>
                        <a:latin typeface="微软雅黑" panose="020B0503020204020204" charset="-122"/>
                      </a:endParaRPr>
                    </a:p>
                  </a:txBody>
                  <a:tcPr marL="63500" marR="63500" marT="50800" marB="50800">
                    <a:solidFill>
                      <a:srgbClr val="E6E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3038"/>
                          </a:solidFill>
                          <a:latin typeface="微软雅黑" panose="020B0503020204020204" charset="-122"/>
                        </a:rPr>
                        <a:t>214</a:t>
                      </a:r>
                      <a:endParaRPr sz="1600" b="0">
                        <a:solidFill>
                          <a:srgbClr val="2A3038"/>
                        </a:solidFill>
                        <a:latin typeface="微软雅黑" panose="020B0503020204020204" charset="-122"/>
                      </a:endParaRPr>
                    </a:p>
                  </a:txBody>
                  <a:tcPr marL="63500" marR="63500" marT="50800" marB="50800">
                    <a:solidFill>
                      <a:srgbClr val="E6E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3038"/>
                          </a:solidFill>
                          <a:latin typeface="微软雅黑" panose="020B0503020204020204" charset="-122"/>
                        </a:rPr>
                        <a:t>213</a:t>
                      </a:r>
                      <a:endParaRPr sz="1600" b="0">
                        <a:solidFill>
                          <a:srgbClr val="2A3038"/>
                        </a:solidFill>
                        <a:latin typeface="微软雅黑" panose="020B0503020204020204" charset="-122"/>
                      </a:endParaRPr>
                    </a:p>
                  </a:txBody>
                  <a:tcPr marL="63500" marR="63500" marT="50800" marB="50800">
                    <a:solidFill>
                      <a:srgbClr val="E6E0C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>
            <a:spLocks noGrp="1"/>
          </p:cNvSpPr>
          <p:nvPr/>
        </p:nvSpPr>
        <p:spPr>
          <a:xfrm>
            <a:off x="548640" y="5394960"/>
            <a:ext cx="11064240" cy="86868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718820" y="5447665"/>
            <a:ext cx="11473180" cy="1078865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错误数最直观：逻辑回归比基线少 1,800 条（2,014 → 214）；随机森林只再少 1 条（214 → 213）。</a:t>
            </a:r>
            <a:endParaRPr sz="1400" b="1">
              <a:solidFill>
                <a:srgbClr val="303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因此，性能提升主要来自“开始使用 16 项形状信息”；森林相对逻辑回归的额外复杂度没有带来明显增益。</a:t>
            </a:r>
            <a:endParaRPr sz="1400" b="1">
              <a:solidFill>
                <a:srgbClr val="303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502920" y="6473952"/>
            <a:ext cx="11155680" cy="305753"/>
          </a:xfrm>
          <a:prstGeom prst="rect">
            <a:avLst/>
          </a:prstGeom>
          <a:noFill/>
        </p:spPr>
        <p:txBody>
          <a:bodyPr wrap="square" lIns="88900" tIns="762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  <a:defRPr sz="1125" b="0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00" b="0">
                <a:solidFill>
                  <a:srgbClr val="576574"/>
                </a:solidFill>
                <a:latin typeface="微软雅黑" panose="020B0503020204020204" charset="-122"/>
              </a:rPr>
              <a:t>固定条件：训练集 10,888 条；测试集 2,723 条；分层 80/20；random_state=42</a:t>
            </a:r>
            <a:endParaRPr sz="1200" b="0">
              <a:solidFill>
                <a:srgbClr val="576B57"/>
              </a:solidFill>
              <a:latin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0" y="6762750"/>
            <a:ext cx="12192000" cy="9525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txBody>
          <a:bodyPr wrap="square"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47650" y="247650"/>
            <a:ext cx="66675" cy="63627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txBody>
          <a:bodyPr wrap="square"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64592" cy="932688"/>
          </a:xfrm>
          <a:prstGeom prst="rect">
            <a:avLst/>
          </a:prstGeom>
          <a:solidFill>
            <a:srgbClr val="1F2BE0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02920" y="82296"/>
            <a:ext cx="11155680" cy="3057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1F2B60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09 · 失败分析</a:t>
            </a:r>
            <a:endParaRPr sz="1125" b="1">
              <a:solidFill>
                <a:srgbClr val="5560E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F2BE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00" b="1">
                <a:solidFill>
                  <a:srgbClr val="1F2B60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真实失败：德尔马森 → 西拉</a:t>
            </a:r>
            <a:endParaRPr sz="2700" b="1">
              <a:solidFill>
                <a:srgbClr val="1F2BE0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48640" y="1234440"/>
            <a:ext cx="5486400" cy="48006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777240" y="137160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样本</a:t>
            </a:r>
            <a:endParaRPr sz="1650" b="1">
              <a:solidFill>
                <a:srgbClr val="18215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777240" y="1801368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原始数据行：13,592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关键输入：Area 41,964；Perimeter 756.8870；roundness 0.920502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真实类别：德尔马森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系统输出：西拉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buNone/>
            </a:pP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同类错误：测试集中 德尔马森 → 西拉 共 52 条，是最常见混淆方向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400800" y="1234440"/>
            <a:ext cx="5212080" cy="48006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629400" y="13716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影响与下一步</a:t>
            </a:r>
            <a:endParaRPr sz="1650" b="1">
              <a:solidFill>
                <a:srgbClr val="18215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6629400" y="1801368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对使用者：德尔马森 可能被放进 西拉 分组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西拉 的 F1 最低：0.8641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buNone/>
            </a:pP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不能证明：单条错误不代表所有误判由某一特征造成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buNone/>
            </a:pP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下一步：只用训练集比较两类在 16 个特征上的分布，找出重叠特征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502920" y="6473952"/>
            <a:ext cx="11155680" cy="3057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00" b="0">
                <a:solidFill>
                  <a:srgbClr val="576574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失败样本来自 python main.py --analyze-errors</a:t>
            </a:r>
            <a:endParaRPr sz="1125" b="0">
              <a:solidFill>
                <a:srgbClr val="5560E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0" y="6762750"/>
            <a:ext cx="12192000" cy="9525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txBody>
          <a:bodyPr wrap="square"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47650" y="247650"/>
            <a:ext cx="66675" cy="63627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txBody>
          <a:bodyPr wrap="square"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64592" cy="932688"/>
          </a:xfrm>
          <a:prstGeom prst="rect">
            <a:avLst/>
          </a:prstGeom>
          <a:solidFill>
            <a:srgbClr val="1F2BE0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02920" y="82296"/>
            <a:ext cx="11155680" cy="3057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1F2B60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10 · 运行演示</a:t>
            </a:r>
            <a:endParaRPr sz="1125" b="1">
              <a:solidFill>
                <a:srgbClr val="5560E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F2BE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00" b="1">
                <a:solidFill>
                  <a:srgbClr val="1F2B60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一条命令复现全部证据</a:t>
            </a:r>
            <a:endParaRPr sz="2700" b="1">
              <a:solidFill>
                <a:srgbClr val="1F2BE0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48640" y="1234440"/>
            <a:ext cx="5486400" cy="48006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777240" y="137160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运行命令</a:t>
            </a:r>
            <a:endParaRPr sz="1650" b="1">
              <a:solidFill>
                <a:srgbClr val="18215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777240" y="1801368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python main.py --check-data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python main.py --baseline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python main.py --candidate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python main.py --random-forest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python main.py --analyze-errors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buNone/>
            </a:pP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依赖：scikit-learn（本次 1.9.0）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400800" y="1234440"/>
            <a:ext cx="5212080" cy="48006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629400" y="13716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验证与答辩</a:t>
            </a:r>
            <a:endParaRPr sz="1650" b="1">
              <a:solidFill>
                <a:srgbClr val="18215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6629400" y="1801368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python -m unittest discover -s tests -v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buNone/>
            </a:pP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现场演示顺序：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1. 数据检查通过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2. 基线输出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3. 逻辑回归输出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4. 随机森林输出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5. 打开最大错误样本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buNone/>
            </a:pP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18215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2A3038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数字必须与报告一致</a:t>
            </a:r>
            <a:endParaRPr sz="1275" b="0">
              <a:solidFill>
                <a:srgbClr val="18215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502920" y="6473952"/>
            <a:ext cx="11155680" cy="3057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00" b="0">
                <a:solidFill>
                  <a:srgbClr val="576574"/>
                </a:solidFill>
                <a:latin typeface="微软雅黑" panose="020B0503020204020204" charset="-122"/>
                <a:ea typeface="Consolas" panose="020B0609020204030204"/>
                <a:cs typeface="Consolas" panose="020B0609020204030204"/>
              </a:rPr>
              <a:t>数据放 data/raw/Dry_Bean_Dataset.arff，原始数据不提交 GitHub</a:t>
            </a:r>
            <a:endParaRPr sz="1125" b="0">
              <a:solidFill>
                <a:srgbClr val="5560E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0" y="6762750"/>
            <a:ext cx="12192000" cy="9525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txBody>
          <a:bodyPr wrap="square"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47650" y="247650"/>
            <a:ext cx="66675" cy="63627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txBody>
          <a:bodyPr wrap="square"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64592" cy="932688"/>
          </a:xfrm>
          <a:prstGeom prst="rect">
            <a:avLst/>
          </a:prstGeom>
          <a:solidFill>
            <a:srgbClr val="1F2BE0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02920" y="82296"/>
            <a:ext cx="11155680" cy="305753"/>
          </a:xfrm>
          <a:prstGeom prst="rect">
            <a:avLst/>
          </a:prstGeom>
          <a:noFill/>
        </p:spPr>
        <p:txBody>
          <a:bodyPr wrap="square" lIns="88900" tIns="635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buNone/>
              <a:defRPr sz="1125" b="1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1F2B60"/>
                </a:solidFill>
                <a:latin typeface="微软雅黑" panose="020B0503020204020204" charset="-122"/>
              </a:rPr>
              <a:t>11 · 已完成的最小实验</a:t>
            </a:r>
            <a:endParaRPr sz="1125" b="1">
              <a:solidFill>
                <a:srgbClr val="5560E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88900" tIns="63500" rIns="88900" bIns="5080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buNone/>
              <a:defRPr sz="2700" b="1">
                <a:solidFill>
                  <a:srgbClr val="1F2BE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00" b="1">
                <a:solidFill>
                  <a:srgbClr val="1F2B60"/>
                </a:solidFill>
                <a:latin typeface="微软雅黑" panose="020B0503020204020204" charset="-122"/>
              </a:rPr>
              <a:t>从发现混淆，到做一次可验证的小改进</a:t>
            </a:r>
            <a:endParaRPr sz="2700" b="1">
              <a:solidFill>
                <a:srgbClr val="1F2BE0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48640" y="1234440"/>
            <a:ext cx="5486400" cy="48006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777240" y="1371600"/>
            <a:ext cx="5029200" cy="411480"/>
          </a:xfrm>
          <a:prstGeom prst="rect">
            <a:avLst/>
          </a:prstGeom>
          <a:noFill/>
        </p:spPr>
        <p:txBody>
          <a:bodyPr wrap="square" lIns="88900" tIns="635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它具体做了什么</a:t>
            </a:r>
            <a:endParaRPr sz="1650" b="1">
              <a:solidFill>
                <a:srgbClr val="18215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777240" y="1801368"/>
            <a:ext cx="5029200" cy="4114800"/>
          </a:xfrm>
          <a:prstGeom prst="rect">
            <a:avLst/>
          </a:prstGeom>
          <a:noFill/>
        </p:spPr>
        <p:txBody>
          <a:bodyPr wrap="square" lIns="88900" tIns="635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00" b="0">
                <a:solidFill>
                  <a:srgbClr val="2A3038"/>
                </a:solidFill>
                <a:latin typeface="微软雅黑" panose="020B0503020204020204" charset="-122"/>
              </a:rPr>
              <a:t>目标：解释德尔马森为什么常被分成西拉，而不是盲目更换模型。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A3038"/>
                </a:solidFill>
                <a:latin typeface="微软雅黑" panose="020B0503020204020204" charset="-122"/>
              </a:rPr>
              <a:t>只用 10,888 条训练集，比较两类在 16 个特征上的 Q1、中位数、Q3 与四分位范围重叠。</a:t>
            </a:r>
            <a:endParaRPr sz="1300" b="0">
              <a:solidFill>
                <a:srgbClr val="2A3038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A3038"/>
                </a:solidFill>
                <a:latin typeface="微软雅黑" panose="020B0503020204020204" charset="-122"/>
              </a:rPr>
              <a:t>发现：面积、周长、长短轴、凸包面积的四分位范围重叠为 0；Extent（0.8106）与 Solidity（0.8208）重叠较高，不能单独分界。</a:t>
            </a:r>
            <a:endParaRPr sz="1300" b="0">
              <a:solidFill>
                <a:srgbClr val="2A303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400800" y="1234440"/>
            <a:ext cx="5212080" cy="48006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629400" y="1371600"/>
            <a:ext cx="4754880" cy="411480"/>
          </a:xfrm>
          <a:prstGeom prst="rect">
            <a:avLst/>
          </a:prstGeom>
          <a:noFill/>
        </p:spPr>
        <p:txBody>
          <a:bodyPr wrap="square" lIns="88900" tIns="635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buNone/>
              <a:defRPr sz="1650" b="1">
                <a:solidFill>
                  <a:srgbClr val="18215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00" b="1">
                <a:solidFill>
                  <a:srgbClr val="1F2B60"/>
                </a:solidFill>
                <a:latin typeface="微软雅黑" panose="020B0503020204020204" charset="-122"/>
              </a:rPr>
              <a:t>预先写明的验证与结果</a:t>
            </a:r>
            <a:endParaRPr sz="1650" b="1">
              <a:solidFill>
                <a:srgbClr val="18215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6629400" y="1801368"/>
            <a:ext cx="4754880" cy="4114800"/>
          </a:xfrm>
          <a:prstGeom prst="rect">
            <a:avLst/>
          </a:prstGeom>
          <a:noFill/>
        </p:spPr>
        <p:txBody>
          <a:bodyPr wrap="square" lIns="88900" tIns="63500" rIns="88900" bIns="5080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buNone/>
              <a:defRPr sz="1275" b="0">
                <a:solidFill>
                  <a:srgbClr val="5A62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00" b="0">
                <a:solidFill>
                  <a:srgbClr val="2A3038"/>
                </a:solidFill>
                <a:latin typeface="微软雅黑" panose="020B0503020204020204" charset="-122"/>
              </a:rPr>
              <a:t>验证：当原始逻辑回归预测为德尔马森或西拉时，交给一个只用这两类训练记录拟合的二分类逻辑回归复核。</a:t>
            </a:r>
            <a:endParaRPr sz="1275" b="0">
              <a:solidFill>
                <a:srgbClr val="5A62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A3038"/>
                </a:solidFill>
                <a:latin typeface="微软雅黑" panose="020B0503020204020204" charset="-122"/>
              </a:rPr>
              <a:t>固定测试集：复核 1,244 条预测。德尔马森 → 西拉从 52 降至 50；西拉 → 德尔马森从 43 升至 45。</a:t>
            </a:r>
            <a:endParaRPr sz="1300" b="0">
              <a:solidFill>
                <a:srgbClr val="2A3038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A3038"/>
                </a:solidFill>
                <a:latin typeface="微软雅黑" panose="020B0503020204020204" charset="-122"/>
              </a:rPr>
              <a:t>总错误仍为 214，Accuracy 仍为 0.9214，Macro F1 从 0.933538 微降至 0.933500。结论：无总体提升，保留原始逻辑回归。</a:t>
            </a:r>
            <a:endParaRPr sz="1300" b="0">
              <a:solidFill>
                <a:srgbClr val="2A3038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502920" y="6473952"/>
            <a:ext cx="11155680" cy="305753"/>
          </a:xfrm>
          <a:prstGeom prst="rect">
            <a:avLst/>
          </a:prstGeom>
          <a:noFill/>
        </p:spPr>
        <p:txBody>
          <a:bodyPr wrap="square" lIns="88900" tIns="63500" rIns="88900" bIns="5080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buNone/>
              <a:defRPr sz="1125" b="0">
                <a:solidFill>
                  <a:srgbClr val="5560E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00" b="0">
                <a:solidFill>
                  <a:srgbClr val="576574"/>
                </a:solidFill>
                <a:latin typeface="微软雅黑" panose="020B0503020204020204" charset="-122"/>
              </a:rPr>
              <a:t>可复现证据：python main.py --minimum-experiment；输出 results/minimum_experiment_feature_summary.csv 与 minimum_experiment_summary.json</a:t>
            </a:r>
            <a:endParaRPr sz="1125" b="0">
              <a:solidFill>
                <a:srgbClr val="5560E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0" y="6762750"/>
            <a:ext cx="12192000" cy="9525"/>
          </a:xfrm>
          <a:prstGeom prst="rect">
            <a:avLst/>
          </a:prstGeom>
          <a:solidFill>
            <a:srgbClr val="F0EBDE"/>
          </a:solidFill>
          <a:ln w="0">
            <a:noFill/>
            <a:prstDash val="solid"/>
          </a:ln>
        </p:spPr>
        <p:txBody>
          <a:bodyPr wrap="square"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47650" y="247650"/>
            <a:ext cx="66675" cy="6362700"/>
          </a:xfrm>
          <a:prstGeom prst="rect">
            <a:avLst/>
          </a:prstGeom>
          <a:solidFill>
            <a:srgbClr val="E6E0CE"/>
          </a:solidFill>
          <a:ln w="9525">
            <a:solidFill>
              <a:srgbClr val="1F2BE0"/>
            </a:solidFill>
            <a:prstDash val="solid"/>
          </a:ln>
        </p:spPr>
        <p:txBody>
          <a:bodyPr wrap="square"/>
          <a:p/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4.4,&quot;left&quot;:43.2,&quot;top&quot;:97.2,&quot;width&quot;:871.2}"/>
</p:tagLst>
</file>

<file path=ppt/tags/tag2.xml><?xml version="1.0" encoding="utf-8"?>
<p:tagLst xmlns:p="http://schemas.openxmlformats.org/presentationml/2006/main">
  <p:tag name="KSO_WM_DIAGRAM_VIRTUALLY_FRAME" val="{&quot;height&quot;:374.4,&quot;left&quot;:43.2,&quot;top&quot;:97.2,&quot;width&quot;:871.2}"/>
</p:tagLst>
</file>

<file path=ppt/tags/tag3.xml><?xml version="1.0" encoding="utf-8"?>
<p:tagLst xmlns:p="http://schemas.openxmlformats.org/presentationml/2006/main">
  <p:tag name="KSO_WM_DIAGRAM_VIRTUALLY_FRAME" val="{&quot;height&quot;:374.4,&quot;left&quot;:43.2,&quot;top&quot;:97.2,&quot;width&quot;:871.2}"/>
</p:tagLst>
</file>

<file path=ppt/tags/tag4.xml><?xml version="1.0" encoding="utf-8"?>
<p:tagLst xmlns:p="http://schemas.openxmlformats.org/presentationml/2006/main">
  <p:tag name="KSO_WM_DIAGRAM_VIRTUALLY_FRAME" val="{&quot;height&quot;:374.4,&quot;left&quot;:43.2,&quot;top&quot;:97.2,&quot;width&quot;:871.2}"/>
</p:tagLst>
</file>

<file path=ppt/tags/tag5.xml><?xml version="1.0" encoding="utf-8"?>
<p:tagLst xmlns:p="http://schemas.openxmlformats.org/presentationml/2006/main">
  <p:tag name="KSO_WM_DIAGRAM_VIRTUALLY_FRAME" val="{&quot;height&quot;:374.4,&quot;left&quot;:43.2,&quot;top&quot;:97.2,&quot;width&quot;:871.2}"/>
</p:tagLst>
</file>

<file path=ppt/tags/tag6.xml><?xml version="1.0" encoding="utf-8"?>
<p:tagLst xmlns:p="http://schemas.openxmlformats.org/presentationml/2006/main">
  <p:tag name="KSO_WM_DIAGRAM_VIRTUALLY_FRAME" val="{&quot;height&quot;:374.4,&quot;left&quot;:43.2,&quot;top&quot;:97.2,&quot;width&quot;:871.2}"/>
</p:tagLst>
</file>

<file path=ppt/tags/tag7.xml><?xml version="1.0" encoding="utf-8"?>
<p:tagLst xmlns:p="http://schemas.openxmlformats.org/presentationml/2006/main">
  <p:tag name="KSO_WM_DIAGRAM_VIRTUALLY_FRAME" val="{&quot;height&quot;:374.4,&quot;left&quot;:43.2,&quot;top&quot;:97.2,&quot;width&quot;:871.2}"/>
</p:tagLst>
</file>

<file path=ppt/tags/tag8.xml><?xml version="1.0" encoding="utf-8"?>
<p:tagLst xmlns:p="http://schemas.openxmlformats.org/presentationml/2006/main">
  <p:tag name="KSO_WM_DIAGRAM_VIRTUALLY_FRAME" val="{&quot;height&quot;:374.4,&quot;left&quot;:43.2,&quot;top&quot;:97.2,&quot;width&quot;:871.2}"/>
</p:tagLst>
</file>

<file path=ppt/tags/tag9.xml><?xml version="1.0" encoding="utf-8"?>
<p:tagLst xmlns:p="http://schemas.openxmlformats.org/presentationml/2006/main">
  <p:tag name="KSO_WM_DIAGRAM_VIRTUALLY_FRAME" val="{&quot;height&quot;:374.4,&quot;left&quot;:43.2,&quot;top&quot;:97.2,&quot;width&quot;:871.2}"/>
</p:tagLst>
</file>

<file path=ppt/tags/tag10.xml><?xml version="1.0" encoding="utf-8"?>
<p:tagLst xmlns:p="http://schemas.openxmlformats.org/presentationml/2006/main">
  <p:tag name="KSO_WM_DIAGRAM_VIRTUALLY_FRAME" val="{&quot;height&quot;:374.4,&quot;left&quot;:43.2,&quot;top&quot;:97.2,&quot;width&quot;:871.2}"/>
</p:tagLst>
</file>

<file path=ppt/tags/tag11.xml><?xml version="1.0" encoding="utf-8"?>
<p:tagLst xmlns:p="http://schemas.openxmlformats.org/presentationml/2006/main">
  <p:tag name="KSO_WM_DIAGRAM_VIRTUALLY_FRAME" val="{&quot;height&quot;:374.4,&quot;left&quot;:43.2,&quot;top&quot;:97.2,&quot;width&quot;:871.2}"/>
</p:tagLst>
</file>

<file path=ppt/tags/tag12.xml><?xml version="1.0" encoding="utf-8"?>
<p:tagLst xmlns:p="http://schemas.openxmlformats.org/presentationml/2006/main">
  <p:tag name="KSO_WM_DIAGRAM_VIRTUALLY_FRAME" val="{&quot;height&quot;:374.4,&quot;left&quot;:43.2,&quot;top&quot;:97.2,&quot;width&quot;:871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5102</Words>
  <Application>WPS 演示</Application>
  <PresentationFormat>宽屏</PresentationFormat>
  <Paragraphs>381</Paragraphs>
  <Slides>14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Arial</vt:lpstr>
      <vt:lpstr>Consolas</vt:lpstr>
      <vt:lpstr>微软雅黑</vt:lpstr>
      <vt:lpstr>Microsoft YaHei UI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吴</cp:lastModifiedBy>
  <cp:revision>10</cp:revision>
  <dcterms:created xsi:type="dcterms:W3CDTF">2026-08-26T07:56:00Z</dcterms:created>
  <dcterms:modified xsi:type="dcterms:W3CDTF">2026-08-27T03:09:19Z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FC957FF39FEA4D42BC28DF896A100C6F_12</vt:lpwstr>
  </property>
  <property fmtid="{D5CDD505-2E9C-101B-9397-08002B2CF9AE}" pid="3" name="KSOProductBuildVer">
    <vt:lpwstr>2052-12.1.0.22215</vt:lpwstr>
  </property>
</Properties>
</file>